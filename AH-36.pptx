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3072142" y="2282105"/>
            <a:ext cx="5950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700" b="1">
                <a:solidFill>
                  <a:srgbClr val="191816"/>
                </a:solidFill>
                <a:latin typeface="Georgia"/>
              </a:rPr>
              <a:t>MICROGRID ENERGY SCHEDULER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677798" y="4545497"/>
            <a:ext cx="3483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672743" y="4160395"/>
            <a:ext cx="4744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F80C44-61E7-CF1D-F718-159C6261F155}"/>
              </a:ext>
            </a:extLst>
          </p:cNvPr>
          <p:cNvSpPr txBox="1"/>
          <p:nvPr/>
        </p:nvSpPr>
        <p:spPr>
          <a:xfrm>
            <a:off x="416363" y="3652788"/>
            <a:ext cx="4744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39"/>
              </a:lnSpc>
            </a:pPr>
            <a:r>
              <a:rPr sz="1500">
                <a:solidFill>
                  <a:srgbClr val="191816"/>
                </a:solidFill>
                <a:latin typeface="Georgia"/>
              </a:rPr>
              <a:t>2/5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1417320"/>
            <a:ext cx="9692640" cy="47548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2700" b="1">
                <a:solidFill>
                  <a:srgbClr val="191816"/>
                </a:solidFill>
                <a:latin typeface="Georgia"/>
              </a:rPr>
              <a:t>THE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96596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700" b="1">
                <a:solidFill>
                  <a:srgbClr val="E84C19"/>
                </a:solidFill>
                <a:latin typeface="Aptos"/>
              </a:rPr>
              <a:t>Microgrids must decide when to consume, store, shift or export energy.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2606040"/>
            <a:ext cx="5486400" cy="2651760"/>
          </a:xfrm>
          <a:prstGeom prst="rect">
            <a:avLst/>
          </a:prstGeom>
          <a:noFill/>
        </p:spPr>
        <p:txBody>
          <a:bodyPr wrap="square" lIns="73152" rIns="27432" tIns="18288" bIns="18288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191816"/>
                </a:solidFill>
                <a:latin typeface="Aptos"/>
              </a:defRPr>
            </a:pPr>
            <a:r>
              <a:t>Solar generation and electricity demand vary throughout the day.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191816"/>
                </a:solidFill>
                <a:latin typeface="Aptos"/>
              </a:defRPr>
            </a:pPr>
            <a:r>
              <a:t>Tariffs, export prices and peak-demand charges change the best action.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191816"/>
                </a:solidFill>
                <a:latin typeface="Aptos"/>
              </a:defRPr>
            </a:pPr>
            <a:r>
              <a:t>Batteries, EVs and thermal storage have capacity, power and efficiency limits.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191816"/>
                </a:solidFill>
                <a:latin typeface="Aptos"/>
              </a:defRPr>
            </a:pPr>
            <a:r>
              <a:t>Uncoordinated schedules can increase bills, peaks and unnecessary cycling.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651760"/>
            <a:ext cx="3337560" cy="2148840"/>
          </a:xfrm>
          <a:prstGeom prst="roundRect">
            <a:avLst/>
          </a:prstGeom>
          <a:solidFill>
            <a:srgbClr val="FFFCF4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THE DECISION</a:t>
            </a:r>
          </a:p>
          <a:p>
            <a:pPr algn="ctr"/>
            <a:r>
              <a:rPr sz="1400">
                <a:solidFill>
                  <a:srgbClr val="302D28"/>
                </a:solidFill>
                <a:latin typeface="Aptos"/>
              </a:rPr>
              <a:t>Meet critical demand first; schedule flexible loads and storage around cost, availability and device limits.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5486400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400" b="0">
                <a:solidFill>
                  <a:srgbClr val="5F5A52"/>
                </a:solidFill>
                <a:latin typeface="Aptos"/>
              </a:rPr>
              <a:t>Target users: microgrid operators, campuses, buildings and energy managers.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39"/>
              </a:lnSpc>
            </a:pPr>
            <a:r>
              <a:rPr sz="1500">
                <a:solidFill>
                  <a:srgbClr val="191816"/>
                </a:solidFill>
                <a:latin typeface="Georgia"/>
              </a:rPr>
              <a:t>3/5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40" y="1353312"/>
            <a:ext cx="9784080" cy="47548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2700" b="1">
                <a:solidFill>
                  <a:srgbClr val="191816"/>
                </a:solidFill>
                <a:latin typeface="Georgia"/>
              </a:rP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38528"/>
            <a:ext cx="9692640" cy="393192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700" b="1">
                <a:solidFill>
                  <a:srgbClr val="E84C19"/>
                </a:solidFill>
                <a:latin typeface="Aptos"/>
              </a:rPr>
              <a:t>A constraint-aware scheduler plans energy use over a rolling 24-hour horizon.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2743200"/>
            <a:ext cx="20116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INPUTS</a:t>
            </a:r>
          </a:p>
          <a:p>
            <a:pPr algn="ctr"/>
            <a:r>
              <a:rPr sz="1200">
                <a:solidFill>
                  <a:srgbClr val="302D28"/>
                </a:solidFill>
                <a:latin typeface="Aptos"/>
              </a:rPr>
              <a:t>Load, solar, tariffs,
state of charge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743200"/>
            <a:ext cx="20116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FORECAST</a:t>
            </a:r>
          </a:p>
          <a:p>
            <a:pPr algn="ctr"/>
            <a:r>
              <a:rPr sz="1200">
                <a:solidFill>
                  <a:srgbClr val="302D28"/>
                </a:solidFill>
                <a:latin typeface="Aptos"/>
              </a:rPr>
              <a:t>15-minute demand &amp;
generation profiles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743200"/>
            <a:ext cx="20116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OPTIMIZE</a:t>
            </a:r>
          </a:p>
          <a:p>
            <a:pPr algn="ctr"/>
            <a:r>
              <a:rPr sz="1200">
                <a:solidFill>
                  <a:srgbClr val="302D28"/>
                </a:solidFill>
                <a:latin typeface="Aptos"/>
              </a:rPr>
              <a:t>Choose grid, battery,
EV and flexible loads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743200"/>
            <a:ext cx="2011680" cy="1234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DISPATCH</a:t>
            </a:r>
          </a:p>
          <a:p>
            <a:pPr algn="ctr"/>
            <a:r>
              <a:rPr sz="1200">
                <a:solidFill>
                  <a:srgbClr val="302D28"/>
                </a:solidFill>
                <a:latin typeface="Aptos"/>
              </a:rPr>
              <a:t>Schedule + explain
cost and trade-offs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55848" y="3364992"/>
            <a:ext cx="457200" cy="0"/>
          </a:xfrm>
          <a:prstGeom prst="line">
            <a:avLst/>
          </a:prstGeom>
          <a:ln w="20320">
            <a:solidFill>
              <a:srgbClr val="5F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16168" y="3364992"/>
            <a:ext cx="457200" cy="0"/>
          </a:xfrm>
          <a:prstGeom prst="line">
            <a:avLst/>
          </a:prstGeom>
          <a:ln w="20320">
            <a:solidFill>
              <a:srgbClr val="5F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76488" y="3364992"/>
            <a:ext cx="457200" cy="0"/>
          </a:xfrm>
          <a:prstGeom prst="line">
            <a:avLst/>
          </a:prstGeom>
          <a:ln w="20320">
            <a:solidFill>
              <a:srgbClr val="5F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0" y="4343400"/>
            <a:ext cx="4754880" cy="29260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500" b="1">
                <a:solidFill>
                  <a:srgbClr val="E84C19"/>
                </a:solidFill>
                <a:latin typeface="Aptos"/>
              </a:rPr>
              <a:t>OBJECTIVE (ILLUSTRATIVE)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81728"/>
            <a:ext cx="9509760" cy="685800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600" b="0">
                <a:solidFill>
                  <a:srgbClr val="191816"/>
                </a:solidFill>
                <a:latin typeface="Aptos"/>
              </a:rPr>
              <a:t>Minimize energy cost + peak charges + battery degradation − export revenue, subject to critical-load and device constraints.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23560"/>
            <a:ext cx="9418320" cy="29260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400" b="1">
                <a:solidFill>
                  <a:srgbClr val="5F5A52"/>
                </a:solidFill>
                <a:latin typeface="Aptos"/>
              </a:rPr>
              <a:t>Critical loads are hard constraints; flexible loads may be shifted or curtailed.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39"/>
              </a:lnSpc>
            </a:pPr>
            <a:r>
              <a:rPr sz="1500">
                <a:solidFill>
                  <a:srgbClr val="191816"/>
                </a:solidFill>
                <a:latin typeface="Georgia"/>
              </a:rPr>
              <a:t>4/5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1234440"/>
            <a:ext cx="9784080" cy="47548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2700" b="1">
                <a:solidFill>
                  <a:srgbClr val="191816"/>
                </a:solidFill>
                <a:latin typeface="Georgia"/>
              </a:rPr>
              <a:t>HOW IT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874519"/>
            <a:ext cx="2103120" cy="1024128"/>
          </a:xfrm>
          <a:prstGeom prst="roundRect">
            <a:avLst/>
          </a:prstGeom>
          <a:solidFill>
            <a:srgbClr val="FFFCF4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DATA LAYER</a:t>
            </a:r>
          </a:p>
          <a:p>
            <a:pPr algn="ctr"/>
            <a:r>
              <a:rPr sz="1100">
                <a:solidFill>
                  <a:srgbClr val="302D28"/>
                </a:solidFill>
                <a:latin typeface="Aptos"/>
              </a:rPr>
              <a:t>CSV / synthetic profiles
Tariffs + device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874519"/>
            <a:ext cx="2103120" cy="1024128"/>
          </a:xfrm>
          <a:prstGeom prst="roundRect">
            <a:avLst/>
          </a:prstGeom>
          <a:solidFill>
            <a:srgbClr val="FFFCF4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MODEL LAYER</a:t>
            </a:r>
          </a:p>
          <a:p>
            <a:pPr algn="ctr"/>
            <a:r>
              <a:rPr sz="1100">
                <a:solidFill>
                  <a:srgbClr val="302D28"/>
                </a:solidFill>
                <a:latin typeface="Aptos"/>
              </a:rPr>
              <a:t>15-min time steps
Energy balance + forecasts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74519"/>
            <a:ext cx="2103120" cy="1024128"/>
          </a:xfrm>
          <a:prstGeom prst="roundRect">
            <a:avLst/>
          </a:prstGeom>
          <a:solidFill>
            <a:srgbClr val="FFFCF4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OPTIMIZER</a:t>
            </a:r>
          </a:p>
          <a:p>
            <a:pPr algn="ctr"/>
            <a:r>
              <a:rPr sz="1100">
                <a:solidFill>
                  <a:srgbClr val="302D28"/>
                </a:solidFill>
                <a:latin typeface="Aptos"/>
              </a:rPr>
              <a:t>Linear / mixed-integer
constraint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874519"/>
            <a:ext cx="2103120" cy="1024128"/>
          </a:xfrm>
          <a:prstGeom prst="roundRect">
            <a:avLst/>
          </a:prstGeom>
          <a:solidFill>
            <a:srgbClr val="FFFCF4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DASHBOARD</a:t>
            </a:r>
          </a:p>
          <a:p>
            <a:pPr algn="ctr"/>
            <a:r>
              <a:rPr sz="1100">
                <a:solidFill>
                  <a:srgbClr val="302D28"/>
                </a:solidFill>
                <a:latin typeface="Aptos"/>
              </a:rPr>
              <a:t>Schedule, SOC, cost
plots + explanations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01568" y="2386584"/>
            <a:ext cx="320040" cy="0"/>
          </a:xfrm>
          <a:prstGeom prst="line">
            <a:avLst/>
          </a:prstGeom>
          <a:ln w="20320">
            <a:solidFill>
              <a:srgbClr val="5F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16168" y="2386584"/>
            <a:ext cx="320039" cy="0"/>
          </a:xfrm>
          <a:prstGeom prst="line">
            <a:avLst/>
          </a:prstGeom>
          <a:ln w="20320">
            <a:solidFill>
              <a:srgbClr val="5F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30768" y="2386584"/>
            <a:ext cx="320040" cy="0"/>
          </a:xfrm>
          <a:prstGeom prst="line">
            <a:avLst/>
          </a:prstGeom>
          <a:ln w="20320">
            <a:solidFill>
              <a:srgbClr val="5F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25880" y="3246120"/>
            <a:ext cx="4572000" cy="29260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500" b="1">
                <a:solidFill>
                  <a:srgbClr val="E84C19"/>
                </a:solidFill>
                <a:latin typeface="Aptos"/>
              </a:rPr>
              <a:t>SYSTEM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566160"/>
            <a:ext cx="4663440" cy="1691640"/>
          </a:xfrm>
          <a:prstGeom prst="rect">
            <a:avLst/>
          </a:prstGeom>
          <a:noFill/>
        </p:spPr>
        <p:txBody>
          <a:bodyPr wrap="square" lIns="73152" rIns="27432" tIns="18288" bIns="18288">
            <a:spAutoFit/>
          </a:bodyPr>
          <a:lstStyle/>
          <a:p>
            <a:pPr>
              <a:buChar char="•"/>
              <a:spcAft>
                <a:spcPts val="600"/>
              </a:spcAft>
              <a:defRPr sz="1300">
                <a:solidFill>
                  <a:srgbClr val="191816"/>
                </a:solidFill>
                <a:latin typeface="Aptos"/>
              </a:defRPr>
            </a:pPr>
            <a:r>
              <a:t>Sources: grid + solar; storage: battery + thermal reservoir.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191816"/>
                </a:solidFill>
                <a:latin typeface="Aptos"/>
              </a:defRPr>
            </a:pPr>
            <a:r>
              <a:t>Loads: critical, flexible building appliances and EV charging.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191816"/>
                </a:solidFill>
                <a:latin typeface="Aptos"/>
              </a:defRPr>
            </a:pPr>
            <a:r>
              <a:t>Balance supply, demand, storage flows and losses each interval.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46120"/>
            <a:ext cx="4754880" cy="29260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500" b="1">
                <a:solidFill>
                  <a:srgbClr val="E84C19"/>
                </a:solidFill>
                <a:latin typeface="Aptos"/>
              </a:rPr>
              <a:t>TOOLS /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66160"/>
            <a:ext cx="4663440" cy="1737360"/>
          </a:xfrm>
          <a:prstGeom prst="rect">
            <a:avLst/>
          </a:prstGeom>
          <a:noFill/>
        </p:spPr>
        <p:txBody>
          <a:bodyPr wrap="square" lIns="73152" rIns="27432" tIns="18288" bIns="18288">
            <a:spAutoFit/>
          </a:bodyPr>
          <a:lstStyle/>
          <a:p>
            <a:pPr>
              <a:buChar char="•"/>
              <a:spcAft>
                <a:spcPts val="500"/>
              </a:spcAft>
              <a:defRPr sz="1300">
                <a:solidFill>
                  <a:srgbClr val="191816"/>
                </a:solidFill>
                <a:latin typeface="Aptos"/>
              </a:defRPr>
            </a:pPr>
            <a:r>
              <a:t>Python, NumPy, pandas — data and simulation.</a:t>
            </a:r>
          </a:p>
          <a:p>
            <a:pPr>
              <a:buChar char="•"/>
              <a:spcAft>
                <a:spcPts val="500"/>
              </a:spcAft>
              <a:defRPr sz="1300">
                <a:solidFill>
                  <a:srgbClr val="191816"/>
                </a:solidFill>
                <a:latin typeface="Aptos"/>
              </a:defRPr>
            </a:pPr>
            <a:r>
              <a:t>SciPy.optimize.milp or PuLP + CBC — scheduling solver.</a:t>
            </a:r>
          </a:p>
          <a:p>
            <a:pPr>
              <a:buChar char="•"/>
              <a:spcAft>
                <a:spcPts val="500"/>
              </a:spcAft>
              <a:defRPr sz="1300">
                <a:solidFill>
                  <a:srgbClr val="191816"/>
                </a:solidFill>
                <a:latin typeface="Aptos"/>
              </a:defRPr>
            </a:pPr>
            <a:r>
              <a:t>Streamlit + Plotly — interactive demo and visualizations.</a:t>
            </a:r>
          </a:p>
          <a:p>
            <a:pPr>
              <a:buChar char="•"/>
              <a:spcAft>
                <a:spcPts val="500"/>
              </a:spcAft>
              <a:defRPr sz="1300">
                <a:solidFill>
                  <a:srgbClr val="191816"/>
                </a:solidFill>
                <a:latin typeface="Aptos"/>
              </a:defRPr>
            </a:pPr>
            <a:r>
              <a:t>CSV / SQLite; optional Open-Meteo or pvlib for forecasts.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577840"/>
            <a:ext cx="9784080" cy="320040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400" b="1">
                <a:solidFill>
                  <a:srgbClr val="5F5A52"/>
                </a:solidFill>
                <a:latin typeface="Aptos"/>
              </a:rPr>
              <a:t>Offline-ready: synthetic time-series data can drive the complete demo; live APIs are optional.</a:t>
            </a:r>
          </a:p>
        </p:txBody>
      </p:sp>
    </p:spTree>
    <p:extLst>
      <p:ext uri="{BB962C8B-B14F-4D97-AF65-F5344CB8AC3E}">
        <p14:creationId xmlns:p14="http://schemas.microsoft.com/office/powerpoint/2010/main" val="261586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39"/>
              </a:lnSpc>
            </a:pPr>
            <a:r>
              <a:rPr sz="1500">
                <a:solidFill>
                  <a:srgbClr val="191816"/>
                </a:solidFill>
                <a:latin typeface="Georgia"/>
              </a:rPr>
              <a:t>5/5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1234440"/>
            <a:ext cx="9784080" cy="47548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2700" b="1">
                <a:solidFill>
                  <a:srgbClr val="191816"/>
                </a:solidFill>
                <a:latin typeface="Georgia"/>
              </a:rPr>
              <a:t>WHAT WE WILL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856231"/>
            <a:ext cx="9509760" cy="365760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700" b="1">
                <a:solidFill>
                  <a:srgbClr val="E84C19"/>
                </a:solidFill>
                <a:latin typeface="Aptos"/>
              </a:rPr>
              <a:t>A working microgrid simulator + day-ahead scheduling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60320"/>
            <a:ext cx="4480560" cy="29260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500" b="1">
                <a:solidFill>
                  <a:srgbClr val="E84C19"/>
                </a:solidFill>
                <a:latin typeface="Aptos"/>
              </a:rPr>
              <a:t>CORE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80360"/>
            <a:ext cx="4572000" cy="2240280"/>
          </a:xfrm>
          <a:prstGeom prst="rect">
            <a:avLst/>
          </a:prstGeom>
          <a:noFill/>
        </p:spPr>
        <p:txBody>
          <a:bodyPr wrap="square" lIns="73152" rIns="27432" tIns="18288" bIns="18288">
            <a:spAutoFit/>
          </a:bodyPr>
          <a:lstStyle/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Configurable grid, solar, battery and thermal storage.</a:t>
            </a:r>
          </a:p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Critical vs. flexible appliance priorities.</a:t>
            </a:r>
          </a:p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24-hour schedule in 15-minute intervals.</a:t>
            </a:r>
          </a:p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Battery / EV state-of-charge and capacity constraints.</a:t>
            </a:r>
          </a:p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Cost, peak load, export and degradation estimates.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4389120" cy="292608"/>
          </a:xfrm>
          <a:prstGeom prst="rect">
            <a:avLst/>
          </a:prstGeom>
          <a:noFill/>
        </p:spPr>
        <p:txBody>
          <a:bodyPr wrap="square" lIns="36576" rIns="36576" tIns="18288" bIns="9144">
            <a:spAutoFit/>
          </a:bodyPr>
          <a:lstStyle/>
          <a:p>
            <a:pPr algn="l"/>
            <a:r>
              <a:rPr sz="1500" b="1">
                <a:solidFill>
                  <a:srgbClr val="E84C19"/>
                </a:solidFill>
                <a:latin typeface="Aptos"/>
              </a:rPr>
              <a:t>DEMO &amp;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80360"/>
            <a:ext cx="4526280" cy="2240280"/>
          </a:xfrm>
          <a:prstGeom prst="rect">
            <a:avLst/>
          </a:prstGeom>
          <a:noFill/>
        </p:spPr>
        <p:txBody>
          <a:bodyPr wrap="square" lIns="73152" rIns="27432" tIns="18288" bIns="18288">
            <a:spAutoFit/>
          </a:bodyPr>
          <a:lstStyle/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Compare baseline operation with optimized scheduling.</a:t>
            </a:r>
          </a:p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Plot load, solar, grid import/export and battery SOC.</a:t>
            </a:r>
          </a:p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Stress-test cloudy periods, price spikes and high demand.</a:t>
            </a:r>
          </a:p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Report cost savings and constraint violations, if any.</a:t>
            </a:r>
          </a:p>
          <a:p>
            <a:pPr>
              <a:buChar char="•"/>
              <a:spcAft>
                <a:spcPts val="600"/>
              </a:spcAft>
              <a:defRPr sz="1400">
                <a:solidFill>
                  <a:srgbClr val="191816"/>
                </a:solidFill>
                <a:latin typeface="Aptos"/>
              </a:defRPr>
            </a:pPr>
            <a:r>
              <a:t>Use synthetic data first; disclose assumptions clearly.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5440680"/>
            <a:ext cx="6583680" cy="530352"/>
          </a:xfrm>
          <a:prstGeom prst="roundRect">
            <a:avLst/>
          </a:prstGeom>
          <a:solidFill>
            <a:srgbClr val="FFFCF4"/>
          </a:solidFill>
          <a:ln w="16510">
            <a:solidFill>
              <a:srgbClr val="E84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27432"/>
          <a:lstStyle/>
          <a:p>
            <a:pPr algn="ctr"/>
            <a:r>
              <a:rPr sz="1400" b="1">
                <a:solidFill>
                  <a:srgbClr val="E84C19"/>
                </a:solidFill>
                <a:latin typeface="Aptos Display"/>
              </a:rPr>
              <a:t>DELIVERABLE</a:t>
            </a:r>
          </a:p>
          <a:p>
            <a:pPr algn="ctr"/>
            <a:r>
              <a:rPr sz="1100">
                <a:solidFill>
                  <a:srgbClr val="302D28"/>
                </a:solidFill>
                <a:latin typeface="Aptos"/>
              </a:rPr>
              <a:t>Simulator • optimization engine • visual dashboard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194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9</cp:revision>
  <dcterms:created xsi:type="dcterms:W3CDTF">2026-10-16T15:16:25Z</dcterms:created>
  <dcterms:modified xsi:type="dcterms:W3CDTF">2026-10-29T04:04:33Z</dcterms:modified>
</cp:coreProperties>
</file>